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6" r:id="rId9"/>
    <p:sldId id="263" r:id="rId10"/>
    <p:sldId id="264" r:id="rId11"/>
    <p:sldId id="265" r:id="rId12"/>
    <p:sldId id="284" r:id="rId13"/>
    <p:sldId id="285" r:id="rId14"/>
    <p:sldId id="268" r:id="rId15"/>
    <p:sldId id="269" r:id="rId16"/>
    <p:sldId id="287" r:id="rId17"/>
    <p:sldId id="270" r:id="rId18"/>
    <p:sldId id="271" r:id="rId19"/>
    <p:sldId id="272" r:id="rId20"/>
    <p:sldId id="283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04A"/>
    <a:srgbClr val="1E2761"/>
    <a:srgbClr val="D6DAF2"/>
    <a:srgbClr val="DEC38E"/>
    <a:srgbClr val="EBEDF9"/>
    <a:srgbClr val="D9DDF3"/>
    <a:srgbClr val="929DDE"/>
    <a:srgbClr val="028090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4050" autoAdjust="0"/>
  </p:normalViewPr>
  <p:slideViewPr>
    <p:cSldViewPr snapToGrid="0" snapToObjects="1">
      <p:cViewPr varScale="1">
        <p:scale>
          <a:sx n="73" d="100"/>
          <a:sy n="73" d="100"/>
        </p:scale>
        <p:origin x="6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napToObjects="1">
      <p:cViewPr varScale="1">
        <p:scale>
          <a:sx n="47" d="100"/>
          <a:sy n="47" d="100"/>
        </p:scale>
        <p:origin x="300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2.pn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3.sv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image" Target="../media/image4.png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package" Target="../embeddings/Microsoft_Excel_Worksheet13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image" Target="../media/image11.sv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Community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29-4DE3-8412-F7AEEFA355EA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29-4DE3-8412-F7AEEFA355EA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29-4DE3-8412-F7AEEFA355EA}"/>
              </c:ext>
            </c:extLst>
          </c:dPt>
          <c:dPt>
            <c:idx val="3"/>
            <c:invertIfNegative val="0"/>
            <c:bubble3D val="0"/>
            <c:spPr>
              <a:solidFill>
                <a:srgbClr val="C9A0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29-4DE3-8412-F7AEEFA355E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Students</c:v>
                </c:pt>
                <c:pt idx="1">
                  <c:v>Job Seekers</c:v>
                </c:pt>
                <c:pt idx="2">
                  <c:v>Career Shifters</c:v>
                </c:pt>
                <c:pt idx="3">
                  <c:v>Professionals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34.5</c:v>
                </c:pt>
                <c:pt idx="1">
                  <c:v>21.2</c:v>
                </c:pt>
                <c:pt idx="2">
                  <c:v>18.899999999999999</c:v>
                </c:pt>
                <c:pt idx="3">
                  <c:v>19.600000000000001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29-4DE3-8412-F7AEEFA355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Working Professionals Using This Tool</c:v>
                </c:pt>
              </c:strCache>
            </c:strRef>
          </c:tx>
          <c:spPr>
            <a:blipFill>
              <a:blip xmlns:r="http://schemas.openxmlformats.org/officeDocument/2006/relationships" r:embed="rId1"/>
              <a:stretch>
                <a:fillRect/>
              </a:stretch>
            </a:blipFill>
            <a:effectLst/>
          </c:spPr>
          <c:invertIfNegative val="0"/>
          <c:pictureOptions>
            <c:pictureFormat val="stackScale"/>
            <c:pictureStackUnit val="10"/>
          </c:pictureOptions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Power BI</c:v>
                </c:pt>
                <c:pt idx="1">
                  <c:v>Python</c:v>
                </c:pt>
                <c:pt idx="2">
                  <c:v>SQL</c:v>
                </c:pt>
                <c:pt idx="3">
                  <c:v>Excel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45.5</c:v>
                </c:pt>
                <c:pt idx="1">
                  <c:v>60</c:v>
                </c:pt>
                <c:pt idx="2">
                  <c:v>71.099999999999994</c:v>
                </c:pt>
                <c:pt idx="3">
                  <c:v>71.3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3-47FA-8113-40193713E9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/>
          <a:lstStyle/>
          <a:p>
            <a:pPr>
              <a:defRPr sz="1600">
                <a:solidFill>
                  <a:srgbClr val="1E2761"/>
                </a:solidFill>
              </a:defRPr>
            </a:pPr>
            <a:endParaRPr lang="en-US"/>
          </a:p>
        </c:txPr>
      </c:legendEntry>
      <c:layout>
        <c:manualLayout>
          <c:xMode val="edge"/>
          <c:yMode val="edge"/>
          <c:x val="0.76889131394077048"/>
          <c:y val="0.12828516348247171"/>
          <c:w val="0.22902146143523811"/>
          <c:h val="0.35583277381025047"/>
        </c:manualLayout>
      </c:layout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 learning</c:v>
                </c:pt>
              </c:strCache>
            </c:strRef>
          </c:tx>
          <c:spPr>
            <a:blipFill>
              <a:blip xmlns:r="http://schemas.openxmlformats.org/officeDocument/2006/relationships">
                <a:extLst>
                  <a:ext uri="{96DAC541-7B7A-43D3-8B79-37D633B846F1}">
                    <asvg:svgBlip xmlns:asvg="http://schemas.microsoft.com/office/drawing/2016/SVG/main" r:embed="rId1"/>
                  </a:ext>
                </a:extLst>
              </a:blip>
              <a:stretch>
                <a:fillRect/>
              </a:stretch>
            </a:blipFill>
            <a:effectLst/>
          </c:spPr>
          <c:invertIfNegative val="0"/>
          <c:pictureOptions>
            <c:pictureFormat val="stackScale"/>
            <c:pictureStackUnit val="10"/>
          </c:pictureOptions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Github</c:v>
                </c:pt>
                <c:pt idx="1">
                  <c:v>w3schools</c:v>
                </c:pt>
                <c:pt idx="2">
                  <c:v>Datacamp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37</c:v>
                </c:pt>
                <c:pt idx="2">
                  <c:v>47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3-47FA-8113-40193713E9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/>
          <a:lstStyle/>
          <a:p>
            <a:pPr>
              <a:defRPr sz="1600">
                <a:solidFill>
                  <a:srgbClr val="1E2761"/>
                </a:solidFill>
              </a:defRPr>
            </a:pPr>
            <a:endParaRPr lang="en-US"/>
          </a:p>
        </c:txPr>
      </c:legendEntry>
      <c:layout>
        <c:manualLayout>
          <c:xMode val="edge"/>
          <c:yMode val="edge"/>
          <c:x val="0.76889131394077048"/>
          <c:y val="0.12828516348247171"/>
          <c:w val="0.22902146143523811"/>
          <c:h val="0.35583277381025047"/>
        </c:manualLayout>
      </c:layout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Usage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0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B9-4E30-A15F-FC227192B34D}"/>
              </c:ext>
            </c:extLst>
          </c:dPt>
          <c:dPt>
            <c:idx val="1"/>
            <c:invertIfNegative val="0"/>
            <c:bubble3D val="0"/>
            <c:spPr>
              <a:solidFill>
                <a:srgbClr val="8C9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B9-4E30-A15F-FC227192B34D}"/>
              </c:ext>
            </c:extLst>
          </c:dPt>
          <c:dPt>
            <c:idx val="2"/>
            <c:invertIfNegative val="0"/>
            <c:bubble3D val="0"/>
            <c:spPr>
              <a:solidFill>
                <a:srgbClr val="C7CE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B9-4E30-A15F-FC227192B34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LinkedIn</c:v>
                </c:pt>
                <c:pt idx="1">
                  <c:v>Jobstreet</c:v>
                </c:pt>
                <c:pt idx="2">
                  <c:v>Indeed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74.400000000000006</c:v>
                </c:pt>
                <c:pt idx="1">
                  <c:v>34.799999999999997</c:v>
                </c:pt>
                <c:pt idx="2">
                  <c:v>26.4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B9-4E30-A15F-FC227192B3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AI Use for Study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4B-422F-87E3-7D65513C97E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84B-422F-87E3-7D65513C97E2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4B-422F-87E3-7D65513C97E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Students</c:v>
                </c:pt>
                <c:pt idx="1">
                  <c:v>Job Seekers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65.8</c:v>
                </c:pt>
                <c:pt idx="1">
                  <c:v>57.5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4B-422F-87E3-7D65513C97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Shifters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Power BI</c:v>
                </c:pt>
                <c:pt idx="1">
                  <c:v>SQL</c:v>
                </c:pt>
                <c:pt idx="2">
                  <c:v>Sharepoint</c:v>
                </c:pt>
                <c:pt idx="3">
                  <c:v>DAX</c:v>
                </c:pt>
                <c:pt idx="4">
                  <c:v>M language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43.9</c:v>
                </c:pt>
                <c:pt idx="1">
                  <c:v>41.1</c:v>
                </c:pt>
                <c:pt idx="2">
                  <c:v>19.399999999999999</c:v>
                </c:pt>
                <c:pt idx="3">
                  <c:v>6.2</c:v>
                </c:pt>
                <c:pt idx="4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9F-46FE-B849-9F507B4D58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Gap vs. DA Professionals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Power BI</c:v>
                </c:pt>
                <c:pt idx="1">
                  <c:v>SQL</c:v>
                </c:pt>
                <c:pt idx="2">
                  <c:v>Sharepoint</c:v>
                </c:pt>
                <c:pt idx="3">
                  <c:v>DAX</c:v>
                </c:pt>
                <c:pt idx="4">
                  <c:v>M language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25.199999999999996</c:v>
                </c:pt>
                <c:pt idx="1">
                  <c:v>21.699999999999996</c:v>
                </c:pt>
                <c:pt idx="2">
                  <c:v>20.6</c:v>
                </c:pt>
                <c:pt idx="3">
                  <c:v>22.900000000000002</c:v>
                </c:pt>
                <c:pt idx="4">
                  <c:v>17.900000000000002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9F-46FE-B849-9F507B4D58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07891344"/>
        <c:axId val="1307734143"/>
      </c:barChart>
      <c:catAx>
        <c:axId val="170789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734143"/>
        <c:crosses val="autoZero"/>
        <c:auto val="1"/>
        <c:lblAlgn val="ctr"/>
        <c:lblOffset val="100"/>
        <c:noMultiLvlLbl val="0"/>
      </c:catAx>
      <c:valAx>
        <c:axId val="130773414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7891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308315587947096"/>
          <c:y val="5.1928603879093906E-2"/>
          <c:w val="0.3569168441205291"/>
          <c:h val="0.361703388708437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Shifters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SQL</c:v>
                </c:pt>
                <c:pt idx="1">
                  <c:v>Python</c:v>
                </c:pt>
                <c:pt idx="2">
                  <c:v>Visual Studio Code</c:v>
                </c:pt>
                <c:pt idx="3">
                  <c:v>Git</c:v>
                </c:pt>
                <c:pt idx="4">
                  <c:v>Github</c:v>
                </c:pt>
                <c:pt idx="5">
                  <c:v>AWS</c:v>
                </c:pt>
                <c:pt idx="6">
                  <c:v>Azure</c:v>
                </c:pt>
                <c:pt idx="7">
                  <c:v>Jira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41.1</c:v>
                </c:pt>
                <c:pt idx="1">
                  <c:v>48.8</c:v>
                </c:pt>
                <c:pt idx="2">
                  <c:v>17.5</c:v>
                </c:pt>
                <c:pt idx="3">
                  <c:v>9.8000000000000007</c:v>
                </c:pt>
                <c:pt idx="4">
                  <c:v>21.2</c:v>
                </c:pt>
                <c:pt idx="5">
                  <c:v>25.8</c:v>
                </c:pt>
                <c:pt idx="6">
                  <c:v>31.5</c:v>
                </c:pt>
                <c:pt idx="7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EE-4815-B390-7F6EAC25EA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Gap vs. DE Professionals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SQL</c:v>
                </c:pt>
                <c:pt idx="1">
                  <c:v>Python</c:v>
                </c:pt>
                <c:pt idx="2">
                  <c:v>Visual Studio Code</c:v>
                </c:pt>
                <c:pt idx="3">
                  <c:v>Git</c:v>
                </c:pt>
                <c:pt idx="4">
                  <c:v>Github</c:v>
                </c:pt>
                <c:pt idx="5">
                  <c:v>AWS</c:v>
                </c:pt>
                <c:pt idx="6">
                  <c:v>Azure</c:v>
                </c:pt>
                <c:pt idx="7">
                  <c:v>Jira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47.499999999999993</c:v>
                </c:pt>
                <c:pt idx="1">
                  <c:v>29.700000000000003</c:v>
                </c:pt>
                <c:pt idx="2">
                  <c:v>38.6</c:v>
                </c:pt>
                <c:pt idx="3">
                  <c:v>40.200000000000003</c:v>
                </c:pt>
                <c:pt idx="4">
                  <c:v>27.599999999999998</c:v>
                </c:pt>
                <c:pt idx="5">
                  <c:v>27.7</c:v>
                </c:pt>
                <c:pt idx="6">
                  <c:v>20.6</c:v>
                </c:pt>
                <c:pt idx="7">
                  <c:v>30.400000000000002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EE-4815-B390-7F6EAC25E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13006544"/>
        <c:axId val="1424585376"/>
      </c:barChart>
      <c:catAx>
        <c:axId val="171300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4585376"/>
        <c:crosses val="autoZero"/>
        <c:auto val="1"/>
        <c:lblAlgn val="ctr"/>
        <c:lblOffset val="100"/>
        <c:noMultiLvlLbl val="0"/>
      </c:catAx>
      <c:valAx>
        <c:axId val="14245853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00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85996405772141"/>
          <c:y val="6.5979942813573056E-2"/>
          <c:w val="0.63142368983981711"/>
          <c:h val="9.6591130084888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AI Use for Work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D1-4186-AE53-FA9D23B3CDC6}"/>
              </c:ext>
            </c:extLst>
          </c:dPt>
          <c:dPt>
            <c:idx val="1"/>
            <c:invertIfNegative val="0"/>
            <c:bubble3D val="0"/>
            <c:spPr>
              <a:solidFill>
                <a:srgbClr val="C9A0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D1-4186-AE53-FA9D23B3CDC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Career Shifters</c:v>
                </c:pt>
                <c:pt idx="1">
                  <c:v>Professionals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50.2</c:v>
                </c:pt>
                <c:pt idx="1">
                  <c:v>65.3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D1-4186-AE53-FA9D23B3CD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6.9056886833978271E-3"/>
          <c:w val="0.96283843096779687"/>
          <c:h val="0.746347257721117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Professionals</c:v>
                </c:pt>
              </c:strCache>
            </c:strRef>
          </c:tx>
          <c:spPr>
            <a:solidFill>
              <a:srgbClr val="C9A04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LinkedIn</c:v>
                </c:pt>
                <c:pt idx="1">
                  <c:v>Jobstreet</c:v>
                </c:pt>
                <c:pt idx="2">
                  <c:v>Indeed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74.400000000000006</c:v>
                </c:pt>
                <c:pt idx="1">
                  <c:v>34.799999999999997</c:v>
                </c:pt>
                <c:pt idx="2">
                  <c:v>26.4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9F-46FE-B849-9F507B4D58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Career Shifters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LinkedIn</c:v>
                </c:pt>
                <c:pt idx="1">
                  <c:v>Jobstreet</c:v>
                </c:pt>
                <c:pt idx="2">
                  <c:v>Indeed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56.1</c:v>
                </c:pt>
                <c:pt idx="1">
                  <c:v>38.299999999999997</c:v>
                </c:pt>
                <c:pt idx="2">
                  <c:v>40.799999999999997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9F-46FE-B849-9F507B4D58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7891344"/>
        <c:axId val="1307734143"/>
      </c:barChart>
      <c:catAx>
        <c:axId val="170789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734143"/>
        <c:crosses val="autoZero"/>
        <c:auto val="1"/>
        <c:lblAlgn val="ctr"/>
        <c:lblOffset val="100"/>
        <c:noMultiLvlLbl val="0"/>
      </c:catAx>
      <c:valAx>
        <c:axId val="130773414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07891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618313178657501"/>
          <c:y val="2.7758693487201502E-2"/>
          <c:w val="0.57329580821757475"/>
          <c:h val="9.58343743976213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625E-2"/>
          <c:y val="2.9069767441860465E-2"/>
          <c:w val="0.94285624453193351"/>
          <c:h val="0.869842977476652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Professionals</c:v>
                </c:pt>
              </c:strCache>
            </c:strRef>
          </c:tx>
          <c:spPr>
            <a:blipFill>
              <a:blip xmlns:r="http://schemas.openxmlformats.org/officeDocument/2006/relationships" r:embed="rId1"/>
              <a:stretch>
                <a:fillRect/>
              </a:stretch>
            </a:blipFill>
            <a:effectLst/>
          </c:spPr>
          <c:invertIfNegative val="0"/>
          <c:pictureOptions>
            <c:pictureFormat val="stackScale"/>
            <c:pictureStackUnit val="10"/>
          </c:pictureOptions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1E-4364-91D5-1976068FF11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1E-4364-91D5-1976068FF11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1E-4364-91D5-1976068FF11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1E-4364-91D5-1976068FF11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&lt;₱35k</c:v>
                </c:pt>
                <c:pt idx="1">
                  <c:v>₱35k–₱75k</c:v>
                </c:pt>
                <c:pt idx="2">
                  <c:v>₱75k–₱100k</c:v>
                </c:pt>
                <c:pt idx="3">
                  <c:v>₱100k+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38.5</c:v>
                </c:pt>
                <c:pt idx="2">
                  <c:v>9.1</c:v>
                </c:pt>
                <c:pt idx="3">
                  <c:v>21.4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1E-4364-91D5-1976068FF1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202291119860014"/>
          <c:y val="0.18978844940894016"/>
          <c:w val="0.18982146762904636"/>
          <c:h val="8.1830250869804069E-2"/>
        </c:manualLayout>
      </c:layout>
      <c:overlay val="0"/>
      <c:txPr>
        <a:bodyPr/>
        <a:lstStyle/>
        <a:p>
          <a:pPr>
            <a:defRPr sz="1600">
              <a:solidFill>
                <a:schemeClr val="bg2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Satisfaction</c:v>
                </c:pt>
              </c:strCache>
            </c:strRef>
          </c:tx>
          <c:spPr>
            <a:blipFill>
              <a:blip xmlns:r="http://schemas.openxmlformats.org/officeDocument/2006/relationships">
                <a:extLst>
                  <a:ext uri="{96DAC541-7B7A-43D3-8B79-37D633B846F1}">
                    <asvg:svgBlip xmlns:asvg="http://schemas.microsoft.com/office/drawing/2016/SVG/main" r:embed="rId1"/>
                  </a:ext>
                </a:extLst>
              </a:blip>
              <a:stretch>
                <a:fillRect/>
              </a:stretch>
            </a:blipFill>
            <a:effectLst/>
          </c:spPr>
          <c:invertIfNegative val="0"/>
          <c:pictureOptions>
            <c:pictureFormat val="stackScale"/>
            <c:pictureStackUnit val="10"/>
          </c:pictureOptions>
          <c:dPt>
            <c:idx val="0"/>
            <c:invertIfNegative val="0"/>
            <c:bubble3D val="0"/>
            <c:spPr>
              <a:blipFill>
                <a:blip xmlns:r="http://schemas.openxmlformats.org/officeDocument/2006/relationships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  <a:effectLst/>
            </c:spPr>
            <c:pictureOptions>
              <c:pictureFormat val="stackScale"/>
              <c:pictureStackUnit val="10"/>
            </c:pictureOptions>
            <c:extLst>
              <c:ext xmlns:c16="http://schemas.microsoft.com/office/drawing/2014/chart" uri="{C3380CC4-5D6E-409C-BE32-E72D297353CC}">
                <c16:uniqueId val="{00000001-485F-445E-8126-F683FD53BB6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85F-445E-8126-F683FD53BB64}"/>
              </c:ext>
            </c:extLst>
          </c:dPt>
          <c:dPt>
            <c:idx val="2"/>
            <c:invertIfNegative val="0"/>
            <c:bubble3D val="0"/>
            <c:spPr>
              <a:blipFill>
                <a:blip xmlns:r="http://schemas.openxmlformats.org/officeDocument/2006/relationships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effectLst/>
            </c:spPr>
            <c:pictureOptions>
              <c:pictureFormat val="stackScale"/>
              <c:pictureStackUnit val="10"/>
            </c:pictureOptions>
            <c:extLst>
              <c:ext xmlns:c16="http://schemas.microsoft.com/office/drawing/2014/chart" uri="{C3380CC4-5D6E-409C-BE32-E72D297353CC}">
                <c16:uniqueId val="{00000005-485F-445E-8126-F683FD53BB6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(8–10)</c:v>
                </c:pt>
                <c:pt idx="1">
                  <c:v>Mid (5–7)</c:v>
                </c:pt>
                <c:pt idx="2">
                  <c:v>Low (1–4)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31.2</c:v>
                </c:pt>
                <c:pt idx="1">
                  <c:v>44.8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5F-445E-8126-F683FD53BB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Awareness</c:v>
                </c:pt>
              </c:strCache>
            </c:strRef>
          </c:tx>
          <c:spPr>
            <a:blipFill>
              <a:blip xmlns:r="http://schemas.openxmlformats.org/officeDocument/2006/relationships">
                <a:extLst>
                  <a:ext uri="{96DAC541-7B7A-43D3-8B79-37D633B846F1}">
                    <asvg:svgBlip xmlns:asvg="http://schemas.microsoft.com/office/drawing/2016/SVG/main" r:embed="rId1"/>
                  </a:ext>
                </a:extLst>
              </a:blip>
              <a:stretch>
                <a:fillRect/>
              </a:stretch>
            </a:blipFill>
            <a:effectLst/>
          </c:spPr>
          <c:invertIfNegative val="0"/>
          <c:pictureOptions>
            <c:pictureFormat val="stackScale"/>
            <c:pictureStackUnit val="10"/>
          </c:pictureOptions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Discord</c:v>
                </c:pt>
                <c:pt idx="1">
                  <c:v>Website</c:v>
                </c:pt>
                <c:pt idx="2">
                  <c:v>Reddit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30.6</c:v>
                </c:pt>
                <c:pt idx="1">
                  <c:v>28.5</c:v>
                </c:pt>
                <c:pt idx="2">
                  <c:v>25.3</c:v>
                </c:pt>
                <c:pt idx="3">
                  <c:v>24.6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BE-4446-8048-D93E59CC0B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0.58368</cdr:x>
      <cdr:y>0.12374</cdr:y>
    </cdr:from>
    <cdr:to>
      <cdr:x>0.98864</cdr:x>
      <cdr:y>0.25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CC546DA-E1EE-D18D-920D-D30246318724}"/>
            </a:ext>
          </a:extLst>
        </cdr:cNvPr>
        <cdr:cNvSpPr txBox="1"/>
      </cdr:nvSpPr>
      <cdr:spPr>
        <a:xfrm xmlns:a="http://schemas.openxmlformats.org/drawingml/2006/main">
          <a:off x="3522518" y="407324"/>
          <a:ext cx="2443942" cy="41563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PH" sz="1600" kern="1200" dirty="0">
              <a:solidFill>
                <a:schemeClr val="bg2">
                  <a:lumMod val="75000"/>
                </a:schemeClr>
              </a:solidFill>
            </a:rPr>
            <a:t>Data Professionals</a:t>
          </a:r>
          <a:endParaRPr lang="en-US" sz="1600" kern="1200" dirty="0">
            <a:solidFill>
              <a:schemeClr val="bg2">
                <a:lumMod val="75000"/>
              </a:schemeClr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29F8DA-8155-E86B-80D3-D498E8B09E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957BC-CD0A-69E7-8613-D1F3E1231B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1F43B-0AD0-4E42-90C0-6B125E99DC1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6EAD1-2F44-BCA4-B1BA-080DE0F06B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550"/>
            <a:ext cx="3078427" cy="513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446AB-9DD5-FEAF-4BA9-974ED3F90C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550"/>
            <a:ext cx="3078427" cy="513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99464-F101-4B8A-866E-8464D4DE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9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150E7C-24CB-8B93-A8F6-D722888E1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52877-B89B-454F-A8DF-B0956EA6831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7FB0E-0D3A-89A5-B43C-8AD9621B8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F5647-7E41-1743-1B13-E8C18510CED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B59D7-414A-44D2-A99C-6CAD73A11B9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8F4F86F-A1C4-C4AF-07B3-796B0587CC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7363F23-E548-C886-D647-A591F6327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B70427-6CCE-5911-C362-ADDE634265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0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E740-F8C3-CFFC-0144-7F07D4F1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84714-98FB-D56B-6EA5-7A6A372A9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3128A-EC44-5B2D-74CF-FC6BCD81F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ABF38-B439-4B4F-88DA-E83E838F6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11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8D59-1EDB-7980-A384-885149BD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5CAFB-0F84-D2B6-FA13-F3DAFA89B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B7FE5-C643-2004-53C2-7D5C272AB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4A575-45C2-2CB6-C7C6-FA526C8D5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24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137E-AE4A-9506-D0FF-57CA0C3B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B1447-4ACC-2D25-7C21-7F8F9ADBD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1012D-9685-30EB-1A2B-20EABF92E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C71F-62BE-7E93-163A-2D139BC35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55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DB27-74E7-D966-DD54-1CA8DBD4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7F27E-2F59-AD6C-3222-2B63E8049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D375D-8E56-B11B-07BA-726CDC19C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03468-36DD-A8D4-6D49-F9669C15D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72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BD94-C2BD-320A-1CE5-15995A0A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305E7-6FD9-0F2B-9808-FBAD36800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2F223-46E2-977B-1E7B-FF73D113A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4ED-9CF0-50C1-8547-45422B011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41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1208-330F-BCCC-5D3F-DC0ED38B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15CA1-6198-9CE3-FFA4-197294B2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FF65-C9E8-4560-8164-F0742C65546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0AAE0-EF7E-D18F-CFA9-31FB8073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52E6-9943-C66E-936C-0840A412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6004" y="5974070"/>
            <a:ext cx="449239" cy="365125"/>
          </a:xfrm>
        </p:spPr>
        <p:txBody>
          <a:bodyPr/>
          <a:lstStyle>
            <a:lvl1pPr>
              <a:defRPr b="1">
                <a:solidFill>
                  <a:srgbClr val="C9A04A"/>
                </a:solidFill>
              </a:defRPr>
            </a:lvl1pPr>
          </a:lstStyle>
          <a:p>
            <a:fld id="{CB80FB7D-8B4F-41C2-8753-415E9404F0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B2F726-2850-0477-1676-C879E7E4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5D56D-5823-513C-4093-2BF76B003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2F0EB-B75B-02C6-82E2-7CBB3FEE9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FF65-C9E8-4560-8164-F0742C65546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59C18-4042-7892-9C2C-7B68428BF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95FBA-B0C5-885B-EB3B-636BDFE7B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0597" y="6176963"/>
            <a:ext cx="450376" cy="544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C9A04A"/>
                </a:solidFill>
              </a:defRPr>
            </a:lvl1pPr>
          </a:lstStyle>
          <a:p>
            <a:fld id="{CB80FB7D-8B4F-41C2-8753-415E9404F0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0E0CC-44F6-79E1-C0FF-C9CBA6E3D25B}"/>
              </a:ext>
            </a:extLst>
          </p:cNvPr>
          <p:cNvSpPr txBox="1"/>
          <p:nvPr userDrawn="1"/>
        </p:nvSpPr>
        <p:spPr>
          <a:xfrm>
            <a:off x="11339583" y="6649726"/>
            <a:ext cx="942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C9A04A"/>
                </a:solidFill>
              </a:rPr>
              <a:t>Sandy G. Cabanes</a:t>
            </a:r>
            <a:endParaRPr lang="en-US" sz="800" dirty="0">
              <a:solidFill>
                <a:srgbClr val="C9A04A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50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taengineering.ph/" TargetMode="External"/><Relationship Id="rId4" Type="http://schemas.openxmlformats.org/officeDocument/2006/relationships/hyperlink" Target="https://github.com/SandyGCabanes/DEP-Survey-Data-Pipeline/blob/main/README.md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sandy.g.cabanes/viz/DEPSurvey2026/ABOUTUS?publish=ye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andygcabanes.github.io/2025-2026-DEP-State-of-the-Community-Survey-Results/web_report_htmls/compensation_combined_smallmultiples.html" TargetMode="External"/><Relationship Id="rId4" Type="http://schemas.openxmlformats.org/officeDocument/2006/relationships/hyperlink" Target="https://sandygcabanes.github.io/2025-2026-DEP-State-of-the-Community-Survey-Results/web_report_htmls/summa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Cover Background"/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22960" y="777240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C9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 STATE OF THE COMMUNITY SURVEY 2025-2026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50" i="1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to the DEP Community</a:t>
            </a:r>
            <a:endParaRPr lang="en-US" sz="205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4946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~1,900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1005840" y="54223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respondents, 95% confidence (n=1,861)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297680" y="466344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4946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96.6%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4480560" y="54223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Philippines-based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Annual Survey 2026  ·  Report compiled by </a:t>
            </a:r>
            <a:r>
              <a:rPr lang="en-US" sz="1150" dirty="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Sandy G. Cabanes  </a:t>
            </a:r>
            <a:r>
              <a:rPr lang="en-US" sz="1150" dirty="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50" dirty="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Data Engineering Pilipinas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ALL OF US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Did This Survey</a:t>
            </a:r>
            <a:endParaRPr lang="en-US" sz="345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5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Our Community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serve the community better, we need to know </a:t>
            </a: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are,</a:t>
            </a: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</a:t>
            </a: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need.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194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50"/>
          </a:p>
        </p:txBody>
      </p:sp>
      <p:sp>
        <p:nvSpPr>
          <p:cNvPr id="12" name="Text 10"/>
          <p:cNvSpPr/>
          <p:nvPr/>
        </p:nvSpPr>
        <p:spPr>
          <a:xfrm>
            <a:off x="452628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FAQs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4526280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the </a:t>
            </a: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already in our community posts and boards.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50"/>
          </a:p>
        </p:txBody>
      </p:sp>
      <p:sp>
        <p:nvSpPr>
          <p:cNvPr id="17" name="Text 15"/>
          <p:cNvSpPr/>
          <p:nvPr/>
        </p:nvSpPr>
        <p:spPr>
          <a:xfrm>
            <a:off x="822960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Full Picture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our respondents, we now have one of the most comprehensive pictures of </a:t>
            </a: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data professionals, students, and career shifters.</a:t>
            </a:r>
            <a:endParaRPr lang="en-US" sz="1400" b="1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9CD5C68-427E-4C15-6E3F-750F7D6D7B33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>
            <a:extLst>
              <a:ext uri="{FF2B5EF4-FFF2-40B4-BE49-F238E27FC236}">
                <a16:creationId xmlns:a16="http://schemas.microsoft.com/office/drawing/2014/main" id="{8FB821A4-F1F4-C2F3-C1CB-237A457B061F}"/>
              </a:ext>
            </a:extLst>
          </p:cNvPr>
          <p:cNvSpPr/>
          <p:nvPr/>
        </p:nvSpPr>
        <p:spPr>
          <a:xfrm>
            <a:off x="4251960" y="1828800"/>
            <a:ext cx="338328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rgbClr val="C9A04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ALL OF US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Talk Is Organized</a:t>
            </a:r>
            <a:endParaRPr lang="en-US" sz="345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rgbClr val="C9A04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of Us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community in one picture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383280" cy="2834640"/>
          </a:xfrm>
          <a:prstGeom prst="roundRect">
            <a:avLst>
              <a:gd name="adj" fmla="val 3226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050" b="1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>
              <a:solidFill>
                <a:srgbClr val="1E276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Group</a:t>
            </a:r>
            <a:endParaRPr lang="en-US" sz="205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48056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Students, Job Seekers, 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Career Shifters, </a:t>
            </a:r>
            <a:r>
              <a:rPr lang="en-US" sz="15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Professionals</a:t>
            </a:r>
            <a:endParaRPr lang="en-US" sz="1500" dirty="0">
              <a:solidFill>
                <a:srgbClr val="C9A04A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38328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rgbClr val="C9A04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3880" y="2057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18388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Our Leaders</a:t>
            </a:r>
            <a:endParaRPr lang="en-US" sz="2050"/>
          </a:p>
        </p:txBody>
      </p:sp>
      <p:sp>
        <p:nvSpPr>
          <p:cNvPr id="15" name="Text 13"/>
          <p:cNvSpPr/>
          <p:nvPr/>
        </p:nvSpPr>
        <p:spPr>
          <a:xfrm>
            <a:off x="818388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500" dirty="0">
                <a:solidFill>
                  <a:srgbClr val="6B6B76"/>
                </a:solidFill>
                <a:latin typeface="Calibri" pitchFamily="34" charset="0"/>
                <a:cs typeface="Calibri" pitchFamily="34" charset="-120"/>
              </a:rPr>
              <a:t>D</a:t>
            </a:r>
            <a:r>
              <a:rPr lang="en-US" sz="1500" dirty="0">
                <a:solidFill>
                  <a:srgbClr val="6B6B76"/>
                </a:solidFill>
                <a:latin typeface="Calibri" pitchFamily="34" charset="0"/>
                <a:cs typeface="Calibri" pitchFamily="34" charset="-120"/>
              </a:rPr>
              <a:t>EP Programs and Initiatives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common question: are we ready for what's next?</a:t>
            </a:r>
            <a:endParaRPr lang="en-US" sz="1700" b="1" dirty="0">
              <a:solidFill>
                <a:srgbClr val="1E276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ALL OF US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Community in Five Numbers</a:t>
            </a:r>
            <a:endParaRPr lang="en-US" sz="345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38528" cy="2834640"/>
          </a:xfrm>
          <a:prstGeom prst="roundRect">
            <a:avLst>
              <a:gd name="adj" fmla="val 377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~1,900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731520" y="34564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in total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761488" y="1920240"/>
            <a:ext cx="1938528" cy="2834640"/>
          </a:xfrm>
          <a:prstGeom prst="roundRect">
            <a:avLst>
              <a:gd name="adj" fmla="val 377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44368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55.7%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2944368" y="3456432"/>
            <a:ext cx="1572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Students or Job Seekers — the talent pipeline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974336" y="1920240"/>
            <a:ext cx="1938528" cy="2834640"/>
          </a:xfrm>
          <a:prstGeom prst="roundRect">
            <a:avLst>
              <a:gd name="adj" fmla="val 377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57216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96.6%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5157216" y="34564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Philippines-based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7187184" y="1920240"/>
            <a:ext cx="1938528" cy="2834640"/>
          </a:xfrm>
          <a:prstGeom prst="roundRect">
            <a:avLst>
              <a:gd name="adj" fmla="val 377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70064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80.8%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7370064" y="345643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 weekly or daily for study/ upskilling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00032" y="1920240"/>
            <a:ext cx="1938528" cy="2834640"/>
          </a:xfrm>
          <a:prstGeom prst="roundRect">
            <a:avLst>
              <a:gd name="adj" fmla="val 3774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82912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82912" y="34564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under 30 years old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Average age 27 years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Highest age group: 20-24 years</a:t>
            </a:r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ALL OF US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in Different Career Stages</a:t>
            </a:r>
            <a:endParaRPr lang="en-US" sz="3450" dirty="0"/>
          </a:p>
        </p:txBody>
      </p:sp>
      <p:graphicFrame>
        <p:nvGraphicFramePr>
          <p:cNvPr id="4" name="Chart 0" descr="Chart"/>
          <p:cNvGraphicFramePr/>
          <p:nvPr>
            <p:extLst>
              <p:ext uri="{D42A27DB-BD31-4B8C-83A1-F6EECF244321}">
                <p14:modId xmlns:p14="http://schemas.microsoft.com/office/powerpoint/2010/main" val="3713892214"/>
              </p:ext>
            </p:extLst>
          </p:nvPr>
        </p:nvGraphicFramePr>
        <p:xfrm>
          <a:off x="548640" y="1828800"/>
          <a:ext cx="10789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2CFF61ED-2FCB-5CEA-BAC1-487566DB9FC1}"/>
              </a:ext>
            </a:extLst>
          </p:cNvPr>
          <p:cNvSpPr/>
          <p:nvPr/>
        </p:nvSpPr>
        <p:spPr>
          <a:xfrm>
            <a:off x="548640" y="619832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i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What best describes the CURRENT STAGE of your data career?: </a:t>
            </a:r>
          </a:p>
          <a:p>
            <a:r>
              <a:rPr lang="en-GB" sz="1200" i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Career shifter -  currently working in a non-data-related role; Freelance -  working independently in a data-related role; Government -  employed in a data-related role in the public sector; Professional -  employed full-time in a data-related role; Volunteer -  contributing to data-related work without pay; Student -  currently studying and not yet working in a data-related role; Looking for data-related work -  actively seeking opportunities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A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Job Seekers</a:t>
            </a:r>
            <a:endParaRPr lang="en-US" sz="460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question here is familiar: Am I ready after graduation? Am I learning what I need for a data professional career?"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2960" y="6080760"/>
            <a:ext cx="9875520" cy="457200"/>
          </a:xfrm>
          <a:prstGeom prst="rect">
            <a:avLst/>
          </a:prstGeom>
          <a:noFill/>
          <a:ln>
            <a:solidFill>
              <a:srgbClr val="C9A0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about 1 in 3 of us (34.5%)   ·   Job Seekers — about 1 in 5 (21.2%)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STUDENTS &amp; JOB SEEKERS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Students and Job Seekers Need to Learn</a:t>
            </a:r>
            <a:endParaRPr lang="en-US" sz="3450" dirty="0"/>
          </a:p>
        </p:txBody>
      </p:sp>
      <p:graphicFrame>
        <p:nvGraphicFramePr>
          <p:cNvPr id="4" name="Chart 0" descr="Chart"/>
          <p:cNvGraphicFramePr/>
          <p:nvPr>
            <p:extLst>
              <p:ext uri="{D42A27DB-BD31-4B8C-83A1-F6EECF244321}">
                <p14:modId xmlns:p14="http://schemas.microsoft.com/office/powerpoint/2010/main" val="2800182139"/>
              </p:ext>
            </p:extLst>
          </p:nvPr>
        </p:nvGraphicFramePr>
        <p:xfrm>
          <a:off x="548640" y="1783080"/>
          <a:ext cx="608463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and Excel are the baseline expectation.</a:t>
            </a:r>
            <a:endParaRPr lang="en-US" sz="185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955280" y="28346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r>
              <a:rPr lang="en-US" sz="15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out of 10 </a:t>
            </a: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 use it day to day. Excel and SQL now sit at the same baseline tier.</a:t>
            </a:r>
            <a:endParaRPr lang="en-US" sz="1500" dirty="0">
              <a:solidFill>
                <a:schemeClr val="bg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0DB6A925-EE4D-755E-D1F7-2EC05EA5DD99}"/>
              </a:ext>
            </a:extLst>
          </p:cNvPr>
          <p:cNvSpPr/>
          <p:nvPr/>
        </p:nvSpPr>
        <p:spPr>
          <a:xfrm>
            <a:off x="548640" y="6455851"/>
            <a:ext cx="10789920" cy="402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Which of the following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</a:rPr>
              <a:t>CODING LANGUAGES OR TOOLS 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do you use on a regular basis? Choose all that apply.</a:t>
            </a:r>
          </a:p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Which of the following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</a:rPr>
              <a:t> NON-CODING-LANGUAGE DATA TOOLS OR PRODUCTIVITY TOOLS 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do you use on a regular basis? Choose all that apply.</a:t>
            </a:r>
          </a:p>
          <a:p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026D7-8EF7-2916-5D06-4342A6FF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5588F5-6E42-7D49-689A-DD31492C7118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STUDENTS &amp; JOB SEEKERS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670103-C4BB-A195-7970-43E84F337FAD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PH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YouTube is the Most Popular for Digital Learning</a:t>
            </a:r>
            <a:endParaRPr lang="en-US" sz="3450" dirty="0"/>
          </a:p>
        </p:txBody>
      </p:sp>
      <p:graphicFrame>
        <p:nvGraphicFramePr>
          <p:cNvPr id="4" name="Chart 0" descr="Chart">
            <a:extLst>
              <a:ext uri="{FF2B5EF4-FFF2-40B4-BE49-F238E27FC236}">
                <a16:creationId xmlns:a16="http://schemas.microsoft.com/office/drawing/2014/main" id="{9B03235E-DB11-A9C1-1505-155907C379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374378"/>
              </p:ext>
            </p:extLst>
          </p:nvPr>
        </p:nvGraphicFramePr>
        <p:xfrm>
          <a:off x="5584874" y="1719259"/>
          <a:ext cx="608463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0E1BCDED-DDF2-24E6-71D9-8C92C87B94F7}"/>
              </a:ext>
            </a:extLst>
          </p:cNvPr>
          <p:cNvGrpSpPr/>
          <p:nvPr/>
        </p:nvGrpSpPr>
        <p:grpSpPr>
          <a:xfrm>
            <a:off x="594360" y="1837944"/>
            <a:ext cx="3611880" cy="3931920"/>
            <a:chOff x="7726680" y="1783080"/>
            <a:chExt cx="3611880" cy="393192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A6530366-410D-E832-A86F-EA192D48891F}"/>
                </a:ext>
              </a:extLst>
            </p:cNvPr>
            <p:cNvSpPr/>
            <p:nvPr/>
          </p:nvSpPr>
          <p:spPr>
            <a:xfrm>
              <a:off x="7726680" y="1783080"/>
              <a:ext cx="3611880" cy="3931920"/>
            </a:xfrm>
            <a:prstGeom prst="roundRect">
              <a:avLst>
                <a:gd name="adj" fmla="val 2532"/>
              </a:avLst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C42EDD5A-F96D-1A59-6856-B86F517B7CFA}"/>
                </a:ext>
              </a:extLst>
            </p:cNvPr>
            <p:cNvSpPr/>
            <p:nvPr/>
          </p:nvSpPr>
          <p:spPr>
            <a:xfrm>
              <a:off x="7955280" y="2011680"/>
              <a:ext cx="320040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850" b="1" dirty="0">
                  <a:solidFill>
                    <a:schemeClr val="bg2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 mix of tutorials and hands-on walkthroughs</a:t>
              </a:r>
              <a:endParaRPr lang="en-US" sz="1850" dirty="0">
                <a:solidFill>
                  <a:schemeClr val="bg2"/>
                </a:solidFill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24265962-4006-E4E5-8AA6-638993BC8178}"/>
                </a:ext>
              </a:extLst>
            </p:cNvPr>
            <p:cNvSpPr/>
            <p:nvPr/>
          </p:nvSpPr>
          <p:spPr>
            <a:xfrm>
              <a:off x="7955280" y="3374136"/>
              <a:ext cx="3200400" cy="211226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500" dirty="0">
                  <a:solidFill>
                    <a:schemeClr val="bg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Self-paced learning is an existing habit and practice.</a:t>
              </a:r>
              <a:endParaRPr lang="en-US" sz="15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8" name="Text 5">
            <a:extLst>
              <a:ext uri="{FF2B5EF4-FFF2-40B4-BE49-F238E27FC236}">
                <a16:creationId xmlns:a16="http://schemas.microsoft.com/office/drawing/2014/main" id="{E54F0A3D-6D5E-CA7C-6115-7984B8D2B12B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522823BA-9917-2F12-DCF9-A270831B7563}"/>
              </a:ext>
            </a:extLst>
          </p:cNvPr>
          <p:cNvSpPr/>
          <p:nvPr/>
        </p:nvSpPr>
        <p:spPr>
          <a:xfrm>
            <a:off x="548640" y="6455851"/>
            <a:ext cx="10789920" cy="402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i="1" dirty="0">
                <a:solidFill>
                  <a:schemeClr val="bg2">
                    <a:lumMod val="75000"/>
                  </a:schemeClr>
                </a:solidFill>
              </a:rPr>
              <a:t>Choose the digital learning platforms or tools you are currently using for data-related learning: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7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STUDENTS &amp; JOB SEEKERS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Search Success Through LinkedIn</a:t>
            </a:r>
            <a:endParaRPr lang="en-US" sz="3450" dirty="0"/>
          </a:p>
        </p:txBody>
      </p:sp>
      <p:graphicFrame>
        <p:nvGraphicFramePr>
          <p:cNvPr id="4" name="Chart 0" descr="Chart"/>
          <p:cNvGraphicFramePr/>
          <p:nvPr>
            <p:extLst>
              <p:ext uri="{D42A27DB-BD31-4B8C-83A1-F6EECF244321}">
                <p14:modId xmlns:p14="http://schemas.microsoft.com/office/powerpoint/2010/main" val="3353582544"/>
              </p:ext>
            </p:extLst>
          </p:nvPr>
        </p:nvGraphicFramePr>
        <p:xfrm>
          <a:off x="548640" y="1783080"/>
          <a:ext cx="60350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12080"/>
            <a:ext cx="6035040" cy="53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ready also means showing that you are ready — being visible on LinkedIn, GitHub, and a portfolio of finished projects.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03720" y="1783080"/>
            <a:ext cx="4434840" cy="3964577"/>
          </a:xfrm>
          <a:prstGeom prst="roundRect">
            <a:avLst>
              <a:gd name="adj" fmla="val 206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292340" y="2606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"Luck is preparation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opportunity."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Oprah Winfrey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PH" sz="1150" dirty="0">
                <a:solidFill>
                  <a:srgbClr val="6B6B76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328FA354-5BC9-1E1A-11EE-42E728A06543}"/>
              </a:ext>
            </a:extLst>
          </p:cNvPr>
          <p:cNvSpPr/>
          <p:nvPr/>
        </p:nvSpPr>
        <p:spPr>
          <a:xfrm>
            <a:off x="548640" y="6455851"/>
            <a:ext cx="10789920" cy="402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Thinking of your</a:t>
            </a:r>
            <a:r>
              <a:rPr lang="en-US" sz="1400" b="1" i="1" dirty="0">
                <a:solidFill>
                  <a:schemeClr val="bg2">
                    <a:lumMod val="75000"/>
                  </a:schemeClr>
                </a:solidFill>
              </a:rPr>
              <a:t> most recent job search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, which platform or method gave you the most success?</a:t>
            </a:r>
          </a:p>
          <a:p>
            <a:endParaRPr lang="en-US" sz="14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STUDENTS &amp; JOB SEEKERS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Already Part of Study and Upskilling</a:t>
            </a:r>
            <a:endParaRPr lang="en-US" sz="3450" dirty="0"/>
          </a:p>
        </p:txBody>
      </p:sp>
      <p:graphicFrame>
        <p:nvGraphicFramePr>
          <p:cNvPr id="4" name="Chart 0" descr="Chart"/>
          <p:cNvGraphicFramePr/>
          <p:nvPr>
            <p:extLst>
              <p:ext uri="{D42A27DB-BD31-4B8C-83A1-F6EECF244321}">
                <p14:modId xmlns:p14="http://schemas.microsoft.com/office/powerpoint/2010/main" val="1757473717"/>
              </p:ext>
            </p:extLst>
          </p:nvPr>
        </p:nvGraphicFramePr>
        <p:xfrm>
          <a:off x="548640" y="178308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8308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37960" y="23408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86.6%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37960" y="2816352"/>
            <a:ext cx="1965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— the top tool among Students (Job Seekers 88.3%)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8823960" y="1783080"/>
            <a:ext cx="2468880" cy="1828800"/>
          </a:xfrm>
          <a:prstGeom prst="roundRect">
            <a:avLst>
              <a:gd name="adj" fmla="val 4000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006840" y="2340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68.2%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006840" y="2816352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Gemini — the runner-up among Students (Job Seekers 56.8%)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55080" y="388620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D6DAF2"/>
          </a:solidFill>
          <a:ln/>
        </p:spPr>
        <p:txBody>
          <a:bodyPr/>
          <a:lstStyle/>
          <a:p>
            <a:endParaRPr lang="en-US">
              <a:solidFill>
                <a:srgbClr val="1E276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0" y="40690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tx2"/>
                </a:solidFill>
                <a:ea typeface="Cambria" panose="02040503050406030204" pitchFamily="18" charset="0"/>
              </a:rPr>
              <a:t>It’s already normal to use AI for study.  About 2 of 3 </a:t>
            </a:r>
            <a:r>
              <a:rPr lang="en-US" sz="1600" b="1" dirty="0">
                <a:solidFill>
                  <a:schemeClr val="tx2"/>
                </a:solidFill>
                <a:ea typeface="Cambria" panose="02040503050406030204" pitchFamily="18" charset="0"/>
              </a:rPr>
              <a:t>Students use AI DAILY for study</a:t>
            </a:r>
            <a:r>
              <a:rPr lang="en-US" sz="1600" dirty="0">
                <a:solidFill>
                  <a:schemeClr val="tx2"/>
                </a:solidFill>
                <a:ea typeface="Cambria" panose="02040503050406030204" pitchFamily="18" charset="0"/>
              </a:rPr>
              <a:t>.  The challenge </a:t>
            </a:r>
            <a:r>
              <a:rPr lang="en-US" sz="1600" b="1" dirty="0">
                <a:solidFill>
                  <a:schemeClr val="tx2"/>
                </a:solidFill>
                <a:ea typeface="Cambria" panose="02040503050406030204" pitchFamily="18" charset="0"/>
              </a:rPr>
              <a:t>could be the reverse</a:t>
            </a:r>
            <a:r>
              <a:rPr lang="en-US" sz="1600" dirty="0">
                <a:solidFill>
                  <a:schemeClr val="tx2"/>
                </a:solidFill>
                <a:ea typeface="Cambria" panose="02040503050406030204" pitchFamily="18" charset="0"/>
              </a:rPr>
              <a:t>: are they ready to face </a:t>
            </a:r>
            <a:r>
              <a:rPr lang="en-US" sz="1600" b="1" dirty="0">
                <a:solidFill>
                  <a:schemeClr val="tx2"/>
                </a:solidFill>
                <a:ea typeface="Cambria" panose="02040503050406030204" pitchFamily="18" charset="0"/>
              </a:rPr>
              <a:t>interviews without using AI?  </a:t>
            </a:r>
            <a:endParaRPr lang="en-US" sz="1500" dirty="0">
              <a:solidFill>
                <a:schemeClr val="tx2"/>
              </a:solidFill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F2555B1-55FD-5610-79DB-56DACE38312A}"/>
              </a:ext>
            </a:extLst>
          </p:cNvPr>
          <p:cNvSpPr/>
          <p:nvPr/>
        </p:nvSpPr>
        <p:spPr>
          <a:xfrm>
            <a:off x="548640" y="6181531"/>
            <a:ext cx="10789920" cy="402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Thinking of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STUDIES or UPSKILLING,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do you currently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AI for study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 Yes, I use AI tools DAILY for study. Yes, I use AI tools WEEKLY for study   Yes, I use AI tools MONTHLY or LESS frequently for study.   No, but I plan to soon.   No, and I don't plan to.   None of the above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B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Shifters</a:t>
            </a:r>
            <a:endParaRPr lang="en-US" sz="460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anxiety here is sharper: what do I need to do to catch up?"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822960" y="6080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1 in 5 of us (18.9%)   ·   Over half have no data-related or computing degree (58.5%)</a:t>
            </a:r>
            <a:endParaRPr lang="en-US" sz="1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8CE56-F7C8-6420-7E95-6C4883DD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43E0C5-76A6-2A16-9753-0C6A2364BC1A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CAREER SHIFTERS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050939-B921-F986-FA9E-C5600760C397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and SQL for Data Analyst Path</a:t>
            </a:r>
            <a:endParaRPr lang="en-US" sz="34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8878D61-A080-02B8-50BB-F71D00D3D4E5}"/>
              </a:ext>
            </a:extLst>
          </p:cNvPr>
          <p:cNvSpPr/>
          <p:nvPr/>
        </p:nvSpPr>
        <p:spPr>
          <a:xfrm>
            <a:off x="9229060" y="2011680"/>
            <a:ext cx="1880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chemeClr val="bg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Clearest Gaps to Close</a:t>
            </a:r>
            <a:endParaRPr lang="en-US" sz="18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443D39B-10E1-2963-F53D-9DE98854C99A}"/>
              </a:ext>
            </a:extLst>
          </p:cNvPr>
          <p:cNvSpPr/>
          <p:nvPr/>
        </p:nvSpPr>
        <p:spPr>
          <a:xfrm>
            <a:off x="9229060" y="2606040"/>
            <a:ext cx="18809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PH" sz="15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P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ower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BI, DAX and SQL are the highest gaps vs. DA Professionals. 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DB09F87-7C32-2E47-5907-227E0F267248}"/>
              </a:ext>
            </a:extLst>
          </p:cNvPr>
          <p:cNvSpPr/>
          <p:nvPr/>
        </p:nvSpPr>
        <p:spPr>
          <a:xfrm>
            <a:off x="9229060" y="4023360"/>
            <a:ext cx="18809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tools are the fastest path from 'shifting' to 'ready for a Data Analyst career.'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37FEC2-0605-7AC1-C44C-656D8B598D99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PH" sz="1150" dirty="0"/>
              <a:t>12</a:t>
            </a:r>
            <a:endParaRPr lang="en-US" sz="115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0FF2AE9-F7D2-3533-B1A0-88F3284CA950}"/>
              </a:ext>
            </a:extLst>
          </p:cNvPr>
          <p:cNvSpPr/>
          <p:nvPr/>
        </p:nvSpPr>
        <p:spPr>
          <a:xfrm>
            <a:off x="548641" y="6144769"/>
            <a:ext cx="967039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of the following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NON-CODING-LANGUAGE DATA TOOLS OR PRODUCTIVITY TOOLS 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 you use on a regular basis?</a:t>
            </a:r>
          </a:p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of the following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CODING LANGUAGES OR TOOLS 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 you use on a regular basis? Choose all that apply. </a:t>
            </a:r>
          </a:p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are the CLOUD-NATIVE DATA PLATFORMS you currently use?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C705F21-E981-A8AD-5882-ADBBCB4EB1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7786210"/>
              </p:ext>
            </p:extLst>
          </p:nvPr>
        </p:nvGraphicFramePr>
        <p:xfrm>
          <a:off x="810833" y="1911512"/>
          <a:ext cx="7053007" cy="3678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9643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B23C4-1640-4AD6-D6BD-C85E5AB0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18C42C-01D4-8128-B03B-4B2AC28001F5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CAREER SHIFTERS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9D3A4B-B782-3EE7-EF3F-78331DE44C06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and Python for Data Engineer Path</a:t>
            </a:r>
            <a:endParaRPr lang="en-US" sz="34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1A08AEF-F735-0C3E-C723-3BAC72E94662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C3167B9B-E931-8B33-8B80-697E63203DC5}"/>
              </a:ext>
            </a:extLst>
          </p:cNvPr>
          <p:cNvSpPr/>
          <p:nvPr/>
        </p:nvSpPr>
        <p:spPr>
          <a:xfrm>
            <a:off x="548640" y="6144769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of the following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NON-CODING-LANGUAGE DATA TOOLS OR PRODUCTIVITY TOOLS 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 you use on a regular basis?</a:t>
            </a:r>
          </a:p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of the following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CODING LANGUAGES OR TOOLS 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 you use on a regular basis? Choose all that apply. </a:t>
            </a:r>
          </a:p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are the CLOUD-NATIVE DATA PLATFORMS you currently use?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9F98A4D-D4A7-7FF6-585F-BD6164EA9E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5750388"/>
              </p:ext>
            </p:extLst>
          </p:nvPr>
        </p:nvGraphicFramePr>
        <p:xfrm>
          <a:off x="548640" y="1536192"/>
          <a:ext cx="10479024" cy="4602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1005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CAREER SHIFTERS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for Hardware 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2994660" cy="2743200"/>
          </a:xfrm>
          <a:prstGeom prst="roundRect">
            <a:avLst>
              <a:gd name="adj" fmla="val 266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51776" y="1892808"/>
            <a:ext cx="3803904" cy="2743200"/>
          </a:xfrm>
          <a:prstGeom prst="roundRect">
            <a:avLst>
              <a:gd name="adj" fmla="val 3333"/>
            </a:avLst>
          </a:prstGeom>
          <a:solidFill>
            <a:srgbClr val="C9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17536" y="2286000"/>
            <a:ext cx="31638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90.2% laptop, 19.5% </a:t>
            </a:r>
            <a:r>
              <a:rPr lang="en-US" sz="30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VM</a:t>
            </a:r>
            <a:endParaRPr lang="en-US" sz="3000" b="1" dirty="0">
              <a:solidFill>
                <a:srgbClr val="1E276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4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Cloud free tiers could be the hardware for Data Engineering now. They don't need to buy something expensive.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DDE8BE81-5020-00AB-81CD-A808232C8D8E}"/>
              </a:ext>
            </a:extLst>
          </p:cNvPr>
          <p:cNvSpPr/>
          <p:nvPr/>
        </p:nvSpPr>
        <p:spPr>
          <a:xfrm>
            <a:off x="548640" y="6144769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hardware to you currently use for data?</a:t>
            </a: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9A1E48F-34C7-6245-6750-B0A03A9AA0D1}"/>
              </a:ext>
            </a:extLst>
          </p:cNvPr>
          <p:cNvSpPr/>
          <p:nvPr/>
        </p:nvSpPr>
        <p:spPr>
          <a:xfrm>
            <a:off x="4023360" y="1892808"/>
            <a:ext cx="2999232" cy="2743200"/>
          </a:xfrm>
          <a:prstGeom prst="roundRect">
            <a:avLst>
              <a:gd name="adj" fmla="val 333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D3EB4C0-CAE0-B6C8-2A91-B8BBDA56063F}"/>
              </a:ext>
            </a:extLst>
          </p:cNvPr>
          <p:cNvSpPr/>
          <p:nvPr/>
        </p:nvSpPr>
        <p:spPr>
          <a:xfrm>
            <a:off x="4315968" y="2258568"/>
            <a:ext cx="23545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85.4%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Of DAs use a laptop,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9.2% </a:t>
            </a:r>
            <a:r>
              <a:rPr lang="en-US" sz="12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VM</a:t>
            </a:r>
            <a:endParaRPr lang="en-US" sz="1200" b="1" dirty="0">
              <a:solidFill>
                <a:srgbClr val="1E276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3ABDA3C-7508-E545-8375-D6765B627D21}"/>
              </a:ext>
            </a:extLst>
          </p:cNvPr>
          <p:cNvSpPr/>
          <p:nvPr/>
        </p:nvSpPr>
        <p:spPr>
          <a:xfrm>
            <a:off x="868680" y="2235710"/>
            <a:ext cx="23545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80.9%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Of Career Shifters use a laptop, 4.1% </a:t>
            </a:r>
            <a:r>
              <a:rPr lang="en-US" sz="12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VM</a:t>
            </a:r>
            <a:endParaRPr lang="en-US" sz="1200" b="1" dirty="0">
              <a:solidFill>
                <a:srgbClr val="1E276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CAREER SHIFTERS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Shifters Need To Fix the Gap in AI Use</a:t>
            </a:r>
            <a:endParaRPr lang="en-US" sz="34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65652490"/>
              </p:ext>
            </p:extLst>
          </p:nvPr>
        </p:nvGraphicFramePr>
        <p:xfrm>
          <a:off x="548640" y="1783080"/>
          <a:ext cx="58521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83080"/>
            <a:ext cx="4480560" cy="1554480"/>
          </a:xfrm>
          <a:prstGeom prst="roundRect">
            <a:avLst>
              <a:gd name="adj" fmla="val 4706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0" y="2075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3.4%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6858000" y="255117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don't plan to use AI at all — the highest of any segment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675120" y="3520440"/>
            <a:ext cx="4480560" cy="2194560"/>
          </a:xfrm>
          <a:prstGeom prst="roundRect">
            <a:avLst>
              <a:gd name="adj" fmla="val 416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03720" y="374904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readiness gap worth closing now , because AI is becoming a basic expectation.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26BAC7C1-024F-CD87-1F73-B235946F2D4C}"/>
              </a:ext>
            </a:extLst>
          </p:cNvPr>
          <p:cNvSpPr/>
          <p:nvPr/>
        </p:nvSpPr>
        <p:spPr>
          <a:xfrm>
            <a:off x="560672" y="6144769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Thinking of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do you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currently use AI in your work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  Yes, I use AI tools DAILY for work.  Yes, I use AI tools WEEKLY for work.  Yes, I use AI tools MONTHLY or LESS frequently for work.   No, but I plan to soon.  No, and I don't plan to.  None of the above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0360-E9E7-9C68-680F-6BA847E9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85385F-BD2D-1BEF-5346-192B9BFEB90D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CAREER SHIFTERS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727397-A638-EDCE-6B2B-FE71608AE306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PH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</a:t>
            </a:r>
            <a:r>
              <a:rPr lang="en-US" sz="345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hifters</a:t>
            </a: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Need to Include LinkedIn</a:t>
            </a:r>
            <a:endParaRPr lang="en-US" sz="34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1E854F3-4636-05EC-5AB8-D068616BD489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5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D80BBCA-BBFC-5BBA-69B7-A34F9F9ABE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285458"/>
              </p:ext>
            </p:extLst>
          </p:nvPr>
        </p:nvGraphicFramePr>
        <p:xfrm>
          <a:off x="810834" y="1911512"/>
          <a:ext cx="7518520" cy="3678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B07F7C-D82B-2C0F-21E9-2AA4DA4C5CB1}"/>
              </a:ext>
            </a:extLst>
          </p:cNvPr>
          <p:cNvCxnSpPr/>
          <p:nvPr/>
        </p:nvCxnSpPr>
        <p:spPr>
          <a:xfrm flipV="1">
            <a:off x="2327564" y="2177935"/>
            <a:ext cx="0" cy="498763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14">
            <a:extLst>
              <a:ext uri="{FF2B5EF4-FFF2-40B4-BE49-F238E27FC236}">
                <a16:creationId xmlns:a16="http://schemas.microsoft.com/office/drawing/2014/main" id="{2F1239F9-C77E-75FD-63A7-770A467B0C3D}"/>
              </a:ext>
            </a:extLst>
          </p:cNvPr>
          <p:cNvSpPr/>
          <p:nvPr/>
        </p:nvSpPr>
        <p:spPr>
          <a:xfrm>
            <a:off x="548640" y="6455851"/>
            <a:ext cx="10789920" cy="402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Thinking of your</a:t>
            </a:r>
            <a:r>
              <a:rPr lang="en-US" sz="1400" b="1" i="1" dirty="0">
                <a:solidFill>
                  <a:schemeClr val="bg2">
                    <a:lumMod val="75000"/>
                  </a:schemeClr>
                </a:solidFill>
              </a:rPr>
              <a:t> most recent job search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, which platform or method gave you the most success?</a:t>
            </a:r>
          </a:p>
          <a:p>
            <a:endParaRPr lang="en-US" sz="14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77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A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C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Professionals</a:t>
            </a:r>
            <a:endParaRPr lang="en-US" sz="460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concern here is quieter but just as real: am I growing, or am I just comfortable?"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822960" y="6080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5 of us (19.6%)   ·   88.4% hold a Bachelor's degree   ·   45.2% are Data Analysts</a:t>
            </a:r>
            <a:endParaRPr lang="en-US" sz="12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Bands Have a U Shape</a:t>
            </a:r>
            <a:endParaRPr lang="en-US" sz="34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897985786"/>
              </p:ext>
            </p:extLst>
          </p:nvPr>
        </p:nvGraphicFramePr>
        <p:xfrm>
          <a:off x="548640" y="1783080"/>
          <a:ext cx="7315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783080"/>
            <a:ext cx="3246120" cy="3931920"/>
          </a:xfrm>
          <a:prstGeom prst="roundRect">
            <a:avLst>
              <a:gd name="adj" fmla="val 2817"/>
            </a:avLst>
          </a:prstGeom>
          <a:solidFill>
            <a:srgbClr val="F4E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21040" y="20116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9.1%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8321040" y="26974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₱</a:t>
            </a:r>
            <a:r>
              <a:rPr lang="en-US" sz="15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–₱</a:t>
            </a:r>
            <a:r>
              <a:rPr lang="en-US" sz="15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band is thin — fewer than 1 in 10 of Data Professionals sit there.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21040" y="42062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could also be driven by our demographics, location, other factors.</a:t>
            </a:r>
            <a:endParaRPr lang="en-US" sz="1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E369A-1A5A-3B33-0417-83AB8D1C5F61}"/>
              </a:ext>
            </a:extLst>
          </p:cNvPr>
          <p:cNvSpPr txBox="1"/>
          <p:nvPr/>
        </p:nvSpPr>
        <p:spPr>
          <a:xfrm>
            <a:off x="548640" y="6464594"/>
            <a:ext cx="10789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'Monthly Salary Range (Or monthly income from main source) If paid per project, please approximate monthly equivalent.'</a:t>
            </a:r>
            <a:endParaRPr lang="en-US" sz="1600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BD14CB3-6BCF-E1FC-B810-8F94B30DAEEC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Excel and Power BI or Tableau for Business Intelligence Can Help Cross Salary Barrier</a:t>
            </a:r>
            <a:endParaRPr lang="en-US" sz="3450" dirty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D53D046-1711-CEA9-8FBB-A03A319157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044658"/>
              </p:ext>
            </p:extLst>
          </p:nvPr>
        </p:nvGraphicFramePr>
        <p:xfrm>
          <a:off x="739775" y="2235200"/>
          <a:ext cx="11160125" cy="353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438499" imgH="1076164" progId="Excel.Sheet.12">
                  <p:embed/>
                </p:oleObj>
              </mc:Choice>
              <mc:Fallback>
                <p:oleObj name="Worksheet" r:id="rId3" imgW="3438499" imgH="107616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775" y="2235200"/>
                        <a:ext cx="11160125" cy="3535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321C910-F6C9-1691-512B-9ECD85CE42EB}"/>
              </a:ext>
            </a:extLst>
          </p:cNvPr>
          <p:cNvSpPr txBox="1"/>
          <p:nvPr/>
        </p:nvSpPr>
        <p:spPr>
          <a:xfrm>
            <a:off x="739775" y="6188149"/>
            <a:ext cx="10396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are the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INTELLIGENCE tools 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 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currently use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FEDED88-1052-5865-2316-861ACCDB6601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B4881-8CB8-86A2-4FF1-F298B8D2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236028-BFD9-8CA0-1C7B-4BBEE4651CF7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25B798-8DFC-5BAE-015C-ABFAC76F0EFA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Adding SQL and Python To Excel Can Help Cross the Salary Barrier</a:t>
            </a:r>
            <a:endParaRPr lang="en-US" sz="3450" dirty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EF0091D-58C4-C3A1-6A54-28DB1A7B0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137003"/>
              </p:ext>
            </p:extLst>
          </p:nvPr>
        </p:nvGraphicFramePr>
        <p:xfrm>
          <a:off x="739774" y="2235200"/>
          <a:ext cx="7124065" cy="297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286072" imgH="1323900" progId="Excel.Sheet.12">
                  <p:embed/>
                </p:oleObj>
              </mc:Choice>
              <mc:Fallback>
                <p:oleObj name="Worksheet" r:id="rId3" imgW="3286072" imgH="1323900" progId="Excel.Sheet.12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AD53D046-1711-CEA9-8FBB-A03A319157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774" y="2235200"/>
                        <a:ext cx="7124065" cy="297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EBD1099-6E07-F82D-3847-AC1060E245EB}"/>
              </a:ext>
            </a:extLst>
          </p:cNvPr>
          <p:cNvSpPr txBox="1"/>
          <p:nvPr/>
        </p:nvSpPr>
        <p:spPr>
          <a:xfrm>
            <a:off x="727256" y="6215687"/>
            <a:ext cx="10396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'Which of the following NON-CODING-LANGUAGE DATA TOOLS OR PRODUCTIVITY TOOLS  do you use on a regular basis? Choose all that apply.',</a:t>
            </a:r>
          </a:p>
          <a:p>
            <a:r>
              <a:rPr lang="en-GB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'Which of the following CODING LANGUAGES OR TOOLS do you use on a regular basis? Choose all that apply.’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PROFESSIONALS self-selected </a:t>
            </a:r>
            <a:r>
              <a:rPr lang="en-GB" sz="1200" b="1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employed full-time in a data-related role: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200" b="1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BB8D6B7-2CB9-7A24-3C95-8A27891EBB09}"/>
              </a:ext>
            </a:extLst>
          </p:cNvPr>
          <p:cNvSpPr/>
          <p:nvPr/>
        </p:nvSpPr>
        <p:spPr>
          <a:xfrm>
            <a:off x="8752734" y="2402960"/>
            <a:ext cx="2220067" cy="2802454"/>
          </a:xfrm>
          <a:prstGeom prst="roundRect">
            <a:avLst>
              <a:gd name="adj" fmla="val 2817"/>
            </a:avLst>
          </a:prstGeom>
          <a:solidFill>
            <a:srgbClr val="F4EDDB"/>
          </a:solidFill>
          <a:ln/>
        </p:spPr>
        <p:txBody>
          <a:bodyPr/>
          <a:lstStyle/>
          <a:p>
            <a:r>
              <a:rPr lang="en-PH" sz="24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76.9% SQL, 73.6% Python. </a:t>
            </a:r>
          </a:p>
          <a:p>
            <a:endParaRPr lang="en-PH" dirty="0">
              <a:solidFill>
                <a:srgbClr val="1E276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PH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Among </a:t>
            </a:r>
            <a:r>
              <a:rPr lang="en-PH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100k</a:t>
            </a:r>
            <a:r>
              <a:rPr lang="en-PH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earners.  Next is </a:t>
            </a:r>
            <a:r>
              <a:rPr lang="en-PH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javascript</a:t>
            </a:r>
            <a:r>
              <a:rPr lang="en-PH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24.2%</a:t>
            </a:r>
            <a:endParaRPr lang="en-US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5DC2CCE-4ACF-22F2-A274-361E5AB2C301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44329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You're Ready to Move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DEC3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29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age group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446024"/>
            <a:ext cx="2834640" cy="19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stay at current salary  is 1-2 year (27.4% )</a:t>
            </a:r>
            <a:endParaRPr lang="en-US" sz="13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EFE8A0-7A19-D0B9-8D18-08FF5BFDDE9B}"/>
              </a:ext>
            </a:extLst>
          </p:cNvPr>
          <p:cNvGrpSpPr/>
          <p:nvPr/>
        </p:nvGrpSpPr>
        <p:grpSpPr>
          <a:xfrm>
            <a:off x="9193876" y="1719071"/>
            <a:ext cx="2273940" cy="2106372"/>
            <a:chOff x="2160536" y="3384556"/>
            <a:chExt cx="3429000" cy="2286000"/>
          </a:xfrm>
        </p:grpSpPr>
        <p:sp>
          <p:nvSpPr>
            <p:cNvPr id="10" name="Shape 8"/>
            <p:cNvSpPr/>
            <p:nvPr/>
          </p:nvSpPr>
          <p:spPr>
            <a:xfrm>
              <a:off x="2160536" y="3384556"/>
              <a:ext cx="3429000" cy="2286000"/>
            </a:xfrm>
            <a:prstGeom prst="roundRect">
              <a:avLst>
                <a:gd name="adj" fmla="val 4000"/>
              </a:avLst>
            </a:prstGeom>
            <a:solidFill>
              <a:srgbClr val="E3F2F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2499714" y="3587425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 Quiet Skill Assessment</a:t>
              </a:r>
              <a:endParaRPr lang="en-US" sz="1600"/>
            </a:p>
          </p:txBody>
        </p:sp>
        <p:sp>
          <p:nvSpPr>
            <p:cNvPr id="12" name="Text 10"/>
            <p:cNvSpPr/>
            <p:nvPr/>
          </p:nvSpPr>
          <p:spPr>
            <a:xfrm>
              <a:off x="2499714" y="4090345"/>
              <a:ext cx="297180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B2B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Check within the company what other skills are needed to move higher — soft skills or tech skills.</a:t>
              </a:r>
              <a:endParaRPr lang="en-US" sz="14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4663440" y="1755648"/>
            <a:ext cx="4118956" cy="1463040"/>
          </a:xfrm>
          <a:prstGeom prst="roundRect">
            <a:avLst>
              <a:gd name="adj" fmla="val 2632"/>
            </a:avLst>
          </a:prstGeom>
          <a:solidFill>
            <a:srgbClr val="DEC3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54138" y="1979468"/>
            <a:ext cx="34996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there's been no salary growth in the time frame, that's usually a sign it's time to actively assess — both inside and outside.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PH" sz="1150" dirty="0"/>
              <a:t>21</a:t>
            </a:r>
            <a:endParaRPr lang="en-US" sz="11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94DA61-AEDA-2ECB-C106-A7E399DB2BA3}"/>
              </a:ext>
            </a:extLst>
          </p:cNvPr>
          <p:cNvGrpSpPr/>
          <p:nvPr/>
        </p:nvGrpSpPr>
        <p:grpSpPr>
          <a:xfrm>
            <a:off x="9193876" y="3873731"/>
            <a:ext cx="2273940" cy="2414428"/>
            <a:chOff x="6263286" y="3661001"/>
            <a:chExt cx="3429000" cy="2286000"/>
          </a:xfrm>
        </p:grpSpPr>
        <p:sp>
          <p:nvSpPr>
            <p:cNvPr id="17" name="Shape 5">
              <a:extLst>
                <a:ext uri="{FF2B5EF4-FFF2-40B4-BE49-F238E27FC236}">
                  <a16:creationId xmlns:a16="http://schemas.microsoft.com/office/drawing/2014/main" id="{98828287-B615-1CC1-2EED-48C1F57C8243}"/>
                </a:ext>
              </a:extLst>
            </p:cNvPr>
            <p:cNvSpPr/>
            <p:nvPr/>
          </p:nvSpPr>
          <p:spPr>
            <a:xfrm>
              <a:off x="6263286" y="3661001"/>
              <a:ext cx="3429000" cy="2286000"/>
            </a:xfrm>
            <a:prstGeom prst="roundRect">
              <a:avLst>
                <a:gd name="adj" fmla="val 4000"/>
              </a:avLst>
            </a:prstGeom>
            <a:solidFill>
              <a:srgbClr val="E3F2F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42A7F488-B436-FA33-9950-09DA7A36574D}"/>
                </a:ext>
              </a:extLst>
            </p:cNvPr>
            <p:cNvSpPr/>
            <p:nvPr/>
          </p:nvSpPr>
          <p:spPr>
            <a:xfrm>
              <a:off x="6491886" y="3843881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 Quiet Market Check</a:t>
              </a:r>
              <a:endParaRPr lang="en-US" sz="160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A328C42C-F6F0-FF6A-62FD-41D84439A0AF}"/>
                </a:ext>
              </a:extLst>
            </p:cNvPr>
            <p:cNvSpPr/>
            <p:nvPr/>
          </p:nvSpPr>
          <p:spPr>
            <a:xfrm>
              <a:off x="6491886" y="4346801"/>
              <a:ext cx="297180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B2B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 the time frame, apply to 2–3 roles just to calibrate. It's a healthy practice, not disloyalty.</a:t>
              </a:r>
              <a:endParaRPr lang="en-US" sz="140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2AA044A-8BF9-1401-2136-3579AE4FF358}"/>
              </a:ext>
            </a:extLst>
          </p:cNvPr>
          <p:cNvSpPr txBox="1"/>
          <p:nvPr/>
        </p:nvSpPr>
        <p:spPr>
          <a:xfrm>
            <a:off x="548640" y="6446520"/>
            <a:ext cx="107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'How long have you been in the current salary range or monthly income range?'</a:t>
            </a:r>
            <a:endParaRPr lang="en-US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F1421B48-56DE-1C1C-B8FC-FB192722B1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92598"/>
              </p:ext>
            </p:extLst>
          </p:nvPr>
        </p:nvGraphicFramePr>
        <p:xfrm>
          <a:off x="549275" y="3497263"/>
          <a:ext cx="8233121" cy="284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819799" imgH="1914395" progId="Excel.Sheet.12">
                  <p:embed/>
                </p:oleObj>
              </mc:Choice>
              <mc:Fallback>
                <p:oleObj name="Worksheet" r:id="rId3" imgW="4819799" imgH="191439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9275" y="3497263"/>
                        <a:ext cx="8233121" cy="284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When Ready to Broaden DE Skills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013294"/>
              </p:ext>
            </p:extLst>
          </p:nvPr>
        </p:nvGraphicFramePr>
        <p:xfrm>
          <a:off x="548640" y="1691640"/>
          <a:ext cx="10789920" cy="3703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Tools (Usage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55.6%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44.4%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27.2%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23.5%</a:t>
                      </a:r>
                      <a:endParaRPr lang="en-US" sz="1250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53.2%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SQL-based Platforms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  ·  </a:t>
                      </a:r>
                      <a:r>
                        <a:rPr lang="en-US" sz="125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29.1%  ·  </a:t>
                      </a:r>
                      <a:r>
                        <a:rPr lang="en-US" sz="125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26.6%</a:t>
                      </a:r>
                      <a:endParaRPr lang="en-US" sz="1250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</a:t>
                      </a:r>
                      <a:r>
                        <a:rPr lang="en-US" sz="125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Storage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250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42.6%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27.9%</a:t>
                      </a:r>
                      <a:endParaRPr lang="en-US" sz="1250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Workflows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 Factory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  ·  </a:t>
                      </a: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Fabric Pipelines </a:t>
                      </a:r>
                      <a:r>
                        <a:rPr lang="en-US" sz="125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22.8%</a:t>
                      </a:r>
                      <a:endParaRPr lang="en-US" sz="1250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PH" sz="1150" dirty="0"/>
              <a:t>22</a:t>
            </a:r>
            <a:endParaRPr lang="en-US" sz="1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2CE6C-0DDF-6DB5-C2FE-172E2B6CD367}"/>
              </a:ext>
            </a:extLst>
          </p:cNvPr>
          <p:cNvSpPr txBox="1"/>
          <p:nvPr/>
        </p:nvSpPr>
        <p:spPr>
          <a:xfrm>
            <a:off x="548640" y="6074509"/>
            <a:ext cx="11000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'What are the data INGESTION tools you currently use?  TRANSFORMATION    DATA LAKES OR OBJECT STORAGE SERVICES     WAREHOUSES OR RELATIONAL DATABASES  ORCHESTRATION </a:t>
            </a:r>
            <a:endParaRPr lang="en-US" sz="1200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Master's Degree – Depends on the Goal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DEC3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more common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5409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holders at ₱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–₱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versus ₱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below (15.4% vs. 3.9%)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97880" y="182880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DEC3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25786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80760" y="305409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₱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75k-P100k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earners have a Bachelor’s Degree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or leadership tracks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especially, it could help , like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to become a Data Scientist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if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position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are aiming for has a Master’s degree. But it's not the only path to being ready to move up.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PH" sz="1150" dirty="0"/>
              <a:t>23</a:t>
            </a:r>
            <a:endParaRPr lang="en-US" sz="11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1AB988-EB0B-C242-C11E-19F15BF46F42}"/>
              </a:ext>
            </a:extLst>
          </p:cNvPr>
          <p:cNvSpPr txBox="1"/>
          <p:nvPr/>
        </p:nvSpPr>
        <p:spPr>
          <a:xfrm>
            <a:off x="731520" y="6153912"/>
            <a:ext cx="1060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'Latest education status’; </a:t>
            </a:r>
            <a:r>
              <a:rPr lang="en-GB" sz="14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'Monthly Salary Range (Or monthly income from main source) If paid per project, please approximate monthly equivalent.'</a:t>
            </a:r>
            <a:endParaRPr lang="en-US" sz="1400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DATA PROFESSIONALS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Satisfaction Driven by Salary, Career Stage</a:t>
            </a:r>
            <a:endParaRPr lang="en-US" sz="3200" dirty="0"/>
          </a:p>
        </p:txBody>
      </p:sp>
      <p:graphicFrame>
        <p:nvGraphicFramePr>
          <p:cNvPr id="4" name="Chart 0" descr="Chart"/>
          <p:cNvGraphicFramePr/>
          <p:nvPr>
            <p:extLst>
              <p:ext uri="{D42A27DB-BD31-4B8C-83A1-F6EECF244321}">
                <p14:modId xmlns:p14="http://schemas.microsoft.com/office/powerpoint/2010/main" val="1716773857"/>
              </p:ext>
            </p:extLst>
          </p:nvPr>
        </p:nvGraphicFramePr>
        <p:xfrm>
          <a:off x="548640" y="1691640"/>
          <a:ext cx="4243493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3159252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DEC3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648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70.9%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126480" y="390448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earners 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and above who report high satisfaction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732520" y="31592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DEC3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1540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17.7%</a:t>
            </a:r>
            <a:endParaRPr lang="en-US" sz="3000"/>
          </a:p>
        </p:txBody>
      </p:sp>
      <p:sp>
        <p:nvSpPr>
          <p:cNvPr id="10" name="Text 7"/>
          <p:cNvSpPr/>
          <p:nvPr/>
        </p:nvSpPr>
        <p:spPr>
          <a:xfrm>
            <a:off x="8915400" y="39044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earners below 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report high satisfaction</a:t>
            </a:r>
            <a:endParaRPr lang="en-US" sz="13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0FC804-3DF5-FEB1-F91F-95AE41D9DCA3}"/>
              </a:ext>
            </a:extLst>
          </p:cNvPr>
          <p:cNvGrpSpPr/>
          <p:nvPr/>
        </p:nvGrpSpPr>
        <p:grpSpPr>
          <a:xfrm>
            <a:off x="5926588" y="1536192"/>
            <a:ext cx="5349240" cy="1442740"/>
            <a:chOff x="5989320" y="-178308"/>
            <a:chExt cx="5349240" cy="1442740"/>
          </a:xfrm>
          <a:solidFill>
            <a:srgbClr val="C9A04A"/>
          </a:solidFill>
        </p:grpSpPr>
        <p:sp>
          <p:nvSpPr>
            <p:cNvPr id="11" name="Shape 8"/>
            <p:cNvSpPr/>
            <p:nvPr/>
          </p:nvSpPr>
          <p:spPr>
            <a:xfrm>
              <a:off x="5989320" y="-178308"/>
              <a:ext cx="5349240" cy="1442740"/>
            </a:xfrm>
            <a:prstGeom prst="roundRect">
              <a:avLst>
                <a:gd name="adj" fmla="val 4848"/>
              </a:avLst>
            </a:prstGeom>
            <a:grpFill/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6172200" y="91440"/>
              <a:ext cx="4983480" cy="4572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83.8%</a:t>
              </a:r>
              <a:endParaRPr lang="en-US" sz="3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172200" y="566928"/>
              <a:ext cx="4983480" cy="603504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B2B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Professionals rate from 6-10 vs. 60.3% Total (vs. Career Shifters at only 31.0%)</a:t>
              </a:r>
              <a:endParaRPr lang="en-US" sz="1300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548640" y="5166360"/>
            <a:ext cx="10789920" cy="639017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5321808"/>
            <a:ext cx="10241280" cy="483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at a high salary, being a Data Professional instead of a Career Shifter, these two are linked to higher job satisfaction.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F3792C-B444-42C7-3895-09664064700F}"/>
              </a:ext>
            </a:extLst>
          </p:cNvPr>
          <p:cNvSpPr txBox="1"/>
          <p:nvPr/>
        </p:nvSpPr>
        <p:spPr>
          <a:xfrm>
            <a:off x="531628" y="6334780"/>
            <a:ext cx="10789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'On a scale of 1 to 10, how satisfied are you with your current data-related role or data career?  (1 - Not Satisfied At All, 10 - Extremely Satisfied)'</a:t>
            </a:r>
            <a:endParaRPr lang="en-US" sz="1400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FOR OUR VOLUNTEER LEADERS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DEP Ready for More Programs?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tried things before — some are still going, some are just starting, some have paused. This dataset gives us a better way to decide what to build next."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2960" y="6080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is for the volunteers, organizers, and advocates who keep DEP alive.</a:t>
            </a:r>
            <a:endParaRPr lang="en-US" sz="12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FOR OUR VOLUNTEER LEADERS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DataCamp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Leads Programs, Discord Highest Channel</a:t>
            </a:r>
            <a:endParaRPr lang="en-US" sz="2900" dirty="0"/>
          </a:p>
        </p:txBody>
      </p:sp>
      <p:graphicFrame>
        <p:nvGraphicFramePr>
          <p:cNvPr id="4" name="Chart 0" descr="Chart"/>
          <p:cNvGraphicFramePr/>
          <p:nvPr>
            <p:extLst>
              <p:ext uri="{D42A27DB-BD31-4B8C-83A1-F6EECF244321}">
                <p14:modId xmlns:p14="http://schemas.microsoft.com/office/powerpoint/2010/main" val="1174248193"/>
              </p:ext>
            </p:extLst>
          </p:nvPr>
        </p:nvGraphicFramePr>
        <p:xfrm>
          <a:off x="548640" y="1828800"/>
          <a:ext cx="60350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819656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086600" y="22128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89.6%</a:t>
            </a:r>
            <a:endParaRPr lang="en-US" sz="3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086600" y="268833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</a:t>
            </a: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</a:t>
            </a: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partnership </a:t>
            </a: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highest awareness of any program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903720" y="3734972"/>
            <a:ext cx="44348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20" y="393192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</a:t>
            </a: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1,000  to over 8,000 scholars</a:t>
            </a: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fit what most people need, and it had passionate volunteers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9BEAD-B996-0E62-FC76-CBEB4FB4F823}"/>
              </a:ext>
            </a:extLst>
          </p:cNvPr>
          <p:cNvSpPr txBox="1"/>
          <p:nvPr/>
        </p:nvSpPr>
        <p:spPr>
          <a:xfrm>
            <a:off x="548640" y="6180667"/>
            <a:ext cx="10789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'Which of the following DEP initiatives and channels are you aware of? Choose all that apply.'</a:t>
            </a:r>
            <a:endParaRPr lang="en-US" sz="1200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FOR OUR VOLUNTEER LEADERS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Upskilling and Continued Learning Top Reasons for Joining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D9DD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368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077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joined for upskilling, 8 out of 10</a:t>
            </a:r>
          </a:p>
        </p:txBody>
      </p:sp>
      <p:sp>
        <p:nvSpPr>
          <p:cNvPr id="7" name="Shape 5"/>
          <p:cNvSpPr/>
          <p:nvPr/>
        </p:nvSpPr>
        <p:spPr>
          <a:xfrm>
            <a:off x="4114800" y="1773936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D9DD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2368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97680" y="27797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 Seekers want it — almost 9 out of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EBED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six-month DE self-paced program addresses need to build something.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feel like you could also volunteer for this, drop a comment in the chat so we can link you up with the team.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6E1C86-4FAE-BE26-7C0A-3FA69DF94B99}"/>
              </a:ext>
            </a:extLst>
          </p:cNvPr>
          <p:cNvSpPr txBox="1"/>
          <p:nvPr/>
        </p:nvSpPr>
        <p:spPr>
          <a:xfrm>
            <a:off x="548640" y="6214533"/>
            <a:ext cx="1024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'Any specific needs you are trying to address by joining DEP Facebook group?'</a:t>
            </a:r>
            <a:endParaRPr lang="en-US" sz="1400" i="1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9BC9314B-DBF7-E9DA-BFFB-ADE8FBE33BF1}"/>
              </a:ext>
            </a:extLst>
          </p:cNvPr>
          <p:cNvSpPr/>
          <p:nvPr/>
        </p:nvSpPr>
        <p:spPr>
          <a:xfrm>
            <a:off x="7680960" y="1773936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D9DD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1EE735B-2598-2066-08CD-0BB7721DC6EF}"/>
              </a:ext>
            </a:extLst>
          </p:cNvPr>
          <p:cNvSpPr/>
          <p:nvPr/>
        </p:nvSpPr>
        <p:spPr>
          <a:xfrm>
            <a:off x="7863840" y="2368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78.5%</a:t>
            </a:r>
            <a:endParaRPr lang="en-US" sz="3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C715842A-A3C7-3904-79CE-5CD351FDE65B}"/>
              </a:ext>
            </a:extLst>
          </p:cNvPr>
          <p:cNvSpPr/>
          <p:nvPr/>
        </p:nvSpPr>
        <p:spPr>
          <a:xfrm>
            <a:off x="7863840" y="27797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PH" sz="130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J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oined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 for Continued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FOR OUR VOLUNTEER LEADERS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Programs for Other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PH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</a:t>
            </a:r>
            <a:r>
              <a:rPr lang="en-US" sz="1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areer</a:t>
            </a: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advancement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PH" sz="2050" b="1" dirty="0">
                <a:solidFill>
                  <a:srgbClr val="C9A04A"/>
                </a:solidFill>
                <a:latin typeface="Cambria" pitchFamily="34" charset="0"/>
                <a:ea typeface="Cambria" pitchFamily="34" charset="-122"/>
              </a:rPr>
              <a:t>7</a:t>
            </a:r>
            <a:r>
              <a:rPr lang="en-US" sz="2050" b="1" dirty="0">
                <a:solidFill>
                  <a:srgbClr val="C9A04A"/>
                </a:solidFill>
                <a:latin typeface="Cambria" pitchFamily="34" charset="0"/>
                <a:ea typeface="Cambria" pitchFamily="34" charset="-122"/>
              </a:rPr>
              <a:t>5.3%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 of Shifters joined because of their decision to shift (Total 26.2%).  Mentoring through topic-and-session-bound matching, like </a:t>
            </a:r>
            <a:r>
              <a:rPr lang="en-US" sz="125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ADPList</a:t>
            </a: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removes the "infinite commitment" shadow for both mentor and mentee.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Skills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996696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50" b="1">
                <a:solidFill>
                  <a:srgbClr val="C9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50.3%</a:t>
            </a:r>
            <a:endParaRPr lang="en-US" sz="205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want it. This is why </a:t>
            </a:r>
            <a:r>
              <a:rPr lang="en-US" sz="125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DataMasters</a:t>
            </a: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very relevant to the community.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PH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B</a:t>
            </a: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 part of a community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3484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PH" sz="2050" b="1" dirty="0">
                <a:solidFill>
                  <a:srgbClr val="C9A0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73.1%</a:t>
            </a:r>
            <a:endParaRPr lang="en-US" sz="2050" b="1" dirty="0">
              <a:solidFill>
                <a:srgbClr val="C9A0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PH" sz="125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K</a:t>
            </a:r>
            <a:r>
              <a:rPr lang="en-US" sz="1250" dirty="0" err="1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amustahan</a:t>
            </a:r>
            <a:r>
              <a:rPr lang="en-US" sz="125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, Podcast, Meetups already started to meet these needs.  Discord and Facebook discussions and posts support this.  Network 59.4%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977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E6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4114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PH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Needs for</a:t>
            </a: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Resources (Inferred)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45262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Partnerships : Already underway AWS site meetup</a:t>
            </a:r>
          </a:p>
          <a:p>
            <a:pPr marL="0" indent="0">
              <a:buNone/>
            </a:pPr>
            <a:endParaRPr lang="en-US" sz="1250" dirty="0">
              <a:solidFill>
                <a:srgbClr val="2B2B33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cs typeface="Calibri" pitchFamily="34" charset="-120"/>
              </a:rPr>
              <a:t>Unspoken need for hardware (10 pt gap earlier).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Had Three Parts to This Talk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56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>
                <a:solidFill>
                  <a:srgbClr val="C9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50"/>
          </a:p>
        </p:txBody>
      </p:sp>
      <p:sp>
        <p:nvSpPr>
          <p:cNvPr id="5" name="Text 3"/>
          <p:cNvSpPr/>
          <p:nvPr/>
        </p:nvSpPr>
        <p:spPr>
          <a:xfrm>
            <a:off x="105156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Picture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526280" y="16002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>
                <a:solidFill>
                  <a:srgbClr val="C9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50"/>
          </a:p>
        </p:txBody>
      </p:sp>
      <p:sp>
        <p:nvSpPr>
          <p:cNvPr id="8" name="Text 6"/>
          <p:cNvSpPr/>
          <p:nvPr/>
        </p:nvSpPr>
        <p:spPr>
          <a:xfrm>
            <a:off x="475488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7548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Students/Job Seekers, Career Shifters, Data Professionals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5820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>
                <a:solidFill>
                  <a:srgbClr val="C9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50"/>
          </a:p>
        </p:txBody>
      </p:sp>
      <p:sp>
        <p:nvSpPr>
          <p:cNvPr id="12" name="Text 10"/>
          <p:cNvSpPr/>
          <p:nvPr/>
        </p:nvSpPr>
        <p:spPr>
          <a:xfrm>
            <a:off x="845820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Community </a:t>
            </a:r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C9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Wherever you are on your path — about to graduate, about to apply, switching fields, or already climbing — you're not the only one asking if you're ready.  This study empowered you with knowledge and insights on how to become ready.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Annual Survey 2026  ·  ~1,900 respondents (n=1,861)  ·  95% confidence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compiled by Sandy G. Cabanes  ·  Data Engineering Pilipinas  ·  2026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the Tableau interactive report </a:t>
            </a:r>
            <a:r>
              <a:rPr lang="en-US" sz="14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the summary</a:t>
            </a:r>
            <a:r>
              <a:rPr lang="en-US" sz="14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4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the interactive web dashboards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D2E64A46-8DE0-AB30-3E69-D955AFFAD6D3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00" b="1" kern="0" spc="200" dirty="0">
                <a:solidFill>
                  <a:srgbClr val="C9A04A"/>
                </a:solidFill>
                <a:latin typeface="Calibri" pitchFamily="34" charset="0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8D352A4-CF48-BB7B-35BB-21BF4FF8A98D}"/>
              </a:ext>
            </a:extLst>
          </p:cNvPr>
          <p:cNvSpPr/>
          <p:nvPr/>
        </p:nvSpPr>
        <p:spPr>
          <a:xfrm>
            <a:off x="8458200" y="2621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PH" sz="1200" dirty="0">
                <a:solidFill>
                  <a:srgbClr val="B8BEDB"/>
                </a:solidFill>
                <a:latin typeface="Calibri" pitchFamily="34" charset="0"/>
                <a:cs typeface="Calibri" pitchFamily="34" charset="-120"/>
              </a:rPr>
              <a:t>N</a:t>
            </a:r>
            <a:r>
              <a:rPr lang="en-US" sz="1200" dirty="0" err="1">
                <a:solidFill>
                  <a:srgbClr val="B8BEDB"/>
                </a:solidFill>
                <a:latin typeface="Calibri" pitchFamily="34" charset="0"/>
                <a:cs typeface="Calibri" pitchFamily="34" charset="-120"/>
              </a:rPr>
              <a:t>eeds</a:t>
            </a:r>
            <a:r>
              <a:rPr lang="en-US" sz="1200" dirty="0">
                <a:solidFill>
                  <a:srgbClr val="B8BEDB"/>
                </a:solidFill>
                <a:latin typeface="Calibri" pitchFamily="34" charset="0"/>
                <a:cs typeface="Calibri" pitchFamily="34" charset="-120"/>
              </a:rPr>
              <a:t> and programs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2425</Words>
  <Application>Microsoft Office PowerPoint</Application>
  <PresentationFormat>Widescreen</PresentationFormat>
  <Paragraphs>281</Paragraphs>
  <Slides>29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Cambria</vt:lpstr>
      <vt:lpstr>Wingdings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 State of the Community Survey 2026</dc:title>
  <dc:subject>PptxGenJS Presentation</dc:subject>
  <dc:creator>Sandy G. Cabanes</dc:creator>
  <cp:lastModifiedBy>Sandy G Cabanes</cp:lastModifiedBy>
  <cp:revision>196</cp:revision>
  <cp:lastPrinted>2026-07-03T12:32:00Z</cp:lastPrinted>
  <dcterms:created xsi:type="dcterms:W3CDTF">2026-06-30T11:26:04Z</dcterms:created>
  <dcterms:modified xsi:type="dcterms:W3CDTF">2026-07-04T01:59:21Z</dcterms:modified>
</cp:coreProperties>
</file>